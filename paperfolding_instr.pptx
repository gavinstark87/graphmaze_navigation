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80" r:id="rId3"/>
    <p:sldId id="282" r:id="rId4"/>
    <p:sldId id="283" r:id="rId5"/>
    <p:sldId id="28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8181"/>
    <a:srgbClr val="FC6977"/>
    <a:srgbClr val="7F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2588" autoAdjust="0"/>
    <p:restoredTop sz="86131"/>
  </p:normalViewPr>
  <p:slideViewPr>
    <p:cSldViewPr snapToGrid="0">
      <p:cViewPr varScale="1">
        <p:scale>
          <a:sx n="21" d="100"/>
          <a:sy n="21" d="100"/>
        </p:scale>
        <p:origin x="176" y="96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27CBA6-04B2-9444-B4FE-E63588113F7E}" type="datetimeFigureOut">
              <a:rPr lang="en-US" smtClean="0"/>
              <a:t>3/4/22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0AC1E7-10EE-9D4B-B23D-B0D6C1341B02}" type="slidenum">
              <a:rPr lang="en-US" smtClean="0"/>
              <a:t>‹#›</a:t>
            </a:fld>
            <a:endParaRPr lang="en-US"/>
          </a:p>
        </p:txBody>
      </p:sp>
    </p:spTree>
    <p:extLst>
      <p:ext uri="{BB962C8B-B14F-4D97-AF65-F5344CB8AC3E}">
        <p14:creationId xmlns:p14="http://schemas.microsoft.com/office/powerpoint/2010/main" val="191760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&gt; Export &gt; </a:t>
            </a:r>
            <a:r>
              <a:rPr lang="en-US" dirty="0" err="1"/>
              <a:t>png</a:t>
            </a:r>
            <a:r>
              <a:rPr lang="en-US" dirty="0"/>
              <a:t> &gt; 2000 x 1125</a:t>
            </a:r>
          </a:p>
        </p:txBody>
      </p:sp>
      <p:sp>
        <p:nvSpPr>
          <p:cNvPr id="4" name="Slide Number Placeholder 3"/>
          <p:cNvSpPr>
            <a:spLocks noGrp="1"/>
          </p:cNvSpPr>
          <p:nvPr>
            <p:ph type="sldNum" sz="quarter" idx="5"/>
          </p:nvPr>
        </p:nvSpPr>
        <p:spPr/>
        <p:txBody>
          <a:bodyPr/>
          <a:lstStyle/>
          <a:p>
            <a:fld id="{4B0AC1E7-10EE-9D4B-B23D-B0D6C1341B02}" type="slidenum">
              <a:rPr lang="en-US" smtClean="0"/>
              <a:t>1</a:t>
            </a:fld>
            <a:endParaRPr lang="en-US"/>
          </a:p>
        </p:txBody>
      </p:sp>
    </p:spTree>
    <p:extLst>
      <p:ext uri="{BB962C8B-B14F-4D97-AF65-F5344CB8AC3E}">
        <p14:creationId xmlns:p14="http://schemas.microsoft.com/office/powerpoint/2010/main" val="676072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0AC1E7-10EE-9D4B-B23D-B0D6C1341B02}" type="slidenum">
              <a:rPr lang="en-US" smtClean="0"/>
              <a:t>5</a:t>
            </a:fld>
            <a:endParaRPr lang="en-US"/>
          </a:p>
        </p:txBody>
      </p:sp>
    </p:spTree>
    <p:extLst>
      <p:ext uri="{BB962C8B-B14F-4D97-AF65-F5344CB8AC3E}">
        <p14:creationId xmlns:p14="http://schemas.microsoft.com/office/powerpoint/2010/main" val="295373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1B085-9EFA-48A7-BD4E-9196E18498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D5B11C-64F4-4AB2-A282-55B1F95956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4C5275-E070-442F-87F1-80E14CDED3CF}"/>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5" name="Footer Placeholder 4">
            <a:extLst>
              <a:ext uri="{FF2B5EF4-FFF2-40B4-BE49-F238E27FC236}">
                <a16:creationId xmlns:a16="http://schemas.microsoft.com/office/drawing/2014/main" id="{09B34E47-93D7-4207-970B-4A0637B811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EE44ED-9C46-45A1-839C-4245D0079C33}"/>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944236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7CA6F-7119-4BB6-B664-A73A9D0CAE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DE7A59-7F04-468E-8118-E54EA1A1C81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988DE4-87A8-4C50-ABDD-1447B789C5C2}"/>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5" name="Footer Placeholder 4">
            <a:extLst>
              <a:ext uri="{FF2B5EF4-FFF2-40B4-BE49-F238E27FC236}">
                <a16:creationId xmlns:a16="http://schemas.microsoft.com/office/drawing/2014/main" id="{5772A7B7-6A6B-4C38-8F34-F9DF32C0CE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A45EFA-CDE7-4BE3-932E-071BF3D91F58}"/>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2241319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B46C2-E9C8-42DA-B78A-E2ECC301C4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9504A5-91D7-4E11-AEC8-C0F6646309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7225F01-DB9F-4A8B-9FAA-A3A23EDBE285}"/>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5" name="Footer Placeholder 4">
            <a:extLst>
              <a:ext uri="{FF2B5EF4-FFF2-40B4-BE49-F238E27FC236}">
                <a16:creationId xmlns:a16="http://schemas.microsoft.com/office/drawing/2014/main" id="{6345AF3F-0FD6-403C-BA6F-777E796B6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84A85-143A-4684-B300-58680F004E01}"/>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610735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B1D6-799A-4C58-BC56-B681C3A78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8336E1-6BA3-4D40-885D-89D3127AE7D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D476A2-D369-4DE4-91F6-A2C92135279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6C2375-697F-4273-B78D-FFFEE34C03E5}"/>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6" name="Footer Placeholder 5">
            <a:extLst>
              <a:ext uri="{FF2B5EF4-FFF2-40B4-BE49-F238E27FC236}">
                <a16:creationId xmlns:a16="http://schemas.microsoft.com/office/drawing/2014/main" id="{C1E1ACC3-98A3-4AF3-9EF6-75914D447D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7CBC94-EC7B-48AF-BF34-16D6E73EFB62}"/>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3076966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C4212-473A-43EC-98FA-5270B0D1D9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0BD204-1CCB-4850-9048-B9FE6A2075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3537428-C0F5-4131-BB62-88AFF2DE750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050067-7A08-43FB-B68C-ED7621C39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C0A6C6-6FBD-4351-81B6-39E490DE2AC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921768-147A-4CAF-901D-9BDFC321B8AA}"/>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8" name="Footer Placeholder 7">
            <a:extLst>
              <a:ext uri="{FF2B5EF4-FFF2-40B4-BE49-F238E27FC236}">
                <a16:creationId xmlns:a16="http://schemas.microsoft.com/office/drawing/2014/main" id="{87AE2981-DD27-4D79-97D2-3C2937479B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92EA5C-22CB-480D-90CF-4501A47A1CE2}"/>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372773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CC05-BB15-44F9-959C-8D9751D671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7AE905-0CAE-408A-A380-EC2F08FBFEA1}"/>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4" name="Footer Placeholder 3">
            <a:extLst>
              <a:ext uri="{FF2B5EF4-FFF2-40B4-BE49-F238E27FC236}">
                <a16:creationId xmlns:a16="http://schemas.microsoft.com/office/drawing/2014/main" id="{0CAC18A0-A024-47EB-999E-73108F3B29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2A33B-7A23-4727-83E2-1E6718FE5A61}"/>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1051822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9905BB-84ED-4CD8-861A-6F7889B782D4}"/>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3" name="Footer Placeholder 2">
            <a:extLst>
              <a:ext uri="{FF2B5EF4-FFF2-40B4-BE49-F238E27FC236}">
                <a16:creationId xmlns:a16="http://schemas.microsoft.com/office/drawing/2014/main" id="{0DD52F06-D930-4CC6-8364-9059225754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F5A9FD-3B65-484D-AA91-EADDAE469B04}"/>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710587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BE0E4-E059-47A3-A716-3EFE57A6C2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514E16-E4DD-419A-AB98-0EDE88C42C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36E8E-E41F-4288-A6CB-86CA708EA0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D17F5FE-E950-40B6-A7A4-5B0FAF5C013D}"/>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6" name="Footer Placeholder 5">
            <a:extLst>
              <a:ext uri="{FF2B5EF4-FFF2-40B4-BE49-F238E27FC236}">
                <a16:creationId xmlns:a16="http://schemas.microsoft.com/office/drawing/2014/main" id="{65FA2E80-B3FE-4119-9FEA-97D1CAB8B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5E260A-CAF3-47C9-8428-D73C50085134}"/>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94545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FA14F-5E21-452F-A322-209217ED20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69752B-5006-4E4E-BCB0-8269BD9061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FA0DCA-6F96-43A6-B098-84BF3D0C06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51E0E2E-DEEF-4DAB-B6AA-4228CA174EC3}"/>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6" name="Footer Placeholder 5">
            <a:extLst>
              <a:ext uri="{FF2B5EF4-FFF2-40B4-BE49-F238E27FC236}">
                <a16:creationId xmlns:a16="http://schemas.microsoft.com/office/drawing/2014/main" id="{2A119B68-26C8-4266-BCB7-2A63CB14B7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0BD00F-A524-4AED-9361-BA5C5E3815FF}"/>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2046071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029EA-12B1-4ADE-BCB8-913CE4EC24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36D2F9-98A3-4F55-B8F9-D19EF2CE88C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663C4F-636A-4BCB-BFDF-A2D5F629AD8E}"/>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5" name="Footer Placeholder 4">
            <a:extLst>
              <a:ext uri="{FF2B5EF4-FFF2-40B4-BE49-F238E27FC236}">
                <a16:creationId xmlns:a16="http://schemas.microsoft.com/office/drawing/2014/main" id="{D6D72AAE-E514-4AFC-B186-3805B2CF2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F0410F-BCFE-48DA-9B04-8E74FB986E5F}"/>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864671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C44AC1-BEDD-4B69-9927-6BC5826849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7DA04E-D4DE-4D94-913E-AC6843200AB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B64783-5D97-4B53-AE98-E2141F25C0F4}"/>
              </a:ext>
            </a:extLst>
          </p:cNvPr>
          <p:cNvSpPr>
            <a:spLocks noGrp="1"/>
          </p:cNvSpPr>
          <p:nvPr>
            <p:ph type="dt" sz="half" idx="10"/>
          </p:nvPr>
        </p:nvSpPr>
        <p:spPr/>
        <p:txBody>
          <a:bodyPr/>
          <a:lstStyle/>
          <a:p>
            <a:fld id="{A8B41877-1F53-4965-BB1A-EB92CF4A25A6}" type="datetimeFigureOut">
              <a:rPr lang="en-US" smtClean="0"/>
              <a:t>3/4/22</a:t>
            </a:fld>
            <a:endParaRPr lang="en-US"/>
          </a:p>
        </p:txBody>
      </p:sp>
      <p:sp>
        <p:nvSpPr>
          <p:cNvPr id="5" name="Footer Placeholder 4">
            <a:extLst>
              <a:ext uri="{FF2B5EF4-FFF2-40B4-BE49-F238E27FC236}">
                <a16:creationId xmlns:a16="http://schemas.microsoft.com/office/drawing/2014/main" id="{52EF40AB-F6F8-4188-AC80-BD1E929DFB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AAB731-7B36-4A74-A5D5-122CACB84579}"/>
              </a:ext>
            </a:extLst>
          </p:cNvPr>
          <p:cNvSpPr>
            <a:spLocks noGrp="1"/>
          </p:cNvSpPr>
          <p:nvPr>
            <p:ph type="sldNum" sz="quarter" idx="12"/>
          </p:nvPr>
        </p:nvSpPr>
        <p:spPr/>
        <p:txBody>
          <a:bodyPr/>
          <a:lstStyle/>
          <a:p>
            <a:fld id="{3BD26264-7D2C-46AD-847B-9BB056A8B49F}" type="slidenum">
              <a:rPr lang="en-US" smtClean="0"/>
              <a:t>‹#›</a:t>
            </a:fld>
            <a:endParaRPr lang="en-US"/>
          </a:p>
        </p:txBody>
      </p:sp>
    </p:spTree>
    <p:extLst>
      <p:ext uri="{BB962C8B-B14F-4D97-AF65-F5344CB8AC3E}">
        <p14:creationId xmlns:p14="http://schemas.microsoft.com/office/powerpoint/2010/main" val="1769696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BFB83D-A005-4ADC-847F-F921241B48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BF32D5-429A-4328-BFCF-587008A73A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5CAC44-8161-4A98-B047-95568552A9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B41877-1F53-4965-BB1A-EB92CF4A25A6}" type="datetimeFigureOut">
              <a:rPr lang="en-US" smtClean="0"/>
              <a:t>3/4/22</a:t>
            </a:fld>
            <a:endParaRPr lang="en-US"/>
          </a:p>
        </p:txBody>
      </p:sp>
      <p:sp>
        <p:nvSpPr>
          <p:cNvPr id="5" name="Footer Placeholder 4">
            <a:extLst>
              <a:ext uri="{FF2B5EF4-FFF2-40B4-BE49-F238E27FC236}">
                <a16:creationId xmlns:a16="http://schemas.microsoft.com/office/drawing/2014/main" id="{DB68C8A2-B420-4842-B2D4-D8FC9D16B8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3130A1-9036-4D88-AA59-AA0BE66473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26264-7D2C-46AD-847B-9BB056A8B49F}" type="slidenum">
              <a:rPr lang="en-US" smtClean="0"/>
              <a:t>‹#›</a:t>
            </a:fld>
            <a:endParaRPr lang="en-US"/>
          </a:p>
        </p:txBody>
      </p:sp>
    </p:spTree>
    <p:extLst>
      <p:ext uri="{BB962C8B-B14F-4D97-AF65-F5344CB8AC3E}">
        <p14:creationId xmlns:p14="http://schemas.microsoft.com/office/powerpoint/2010/main" val="2642854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67E0-7841-4DBA-B5E2-2494AD88EE89}"/>
              </a:ext>
            </a:extLst>
          </p:cNvPr>
          <p:cNvSpPr>
            <a:spLocks noGrp="1"/>
          </p:cNvSpPr>
          <p:nvPr>
            <p:ph type="ctrTitle"/>
          </p:nvPr>
        </p:nvSpPr>
        <p:spPr>
          <a:xfrm>
            <a:off x="1786128" y="1824736"/>
            <a:ext cx="8619744" cy="3208528"/>
          </a:xfrm>
        </p:spPr>
        <p:txBody>
          <a:bodyPr>
            <a:noAutofit/>
          </a:bodyPr>
          <a:lstStyle/>
          <a:p>
            <a:r>
              <a:rPr lang="en-US" sz="6600" dirty="0">
                <a:solidFill>
                  <a:schemeClr val="bg1"/>
                </a:solidFill>
                <a:latin typeface="Times New Roman" panose="02020603050405020304" pitchFamily="18" charset="0"/>
                <a:cs typeface="Times New Roman" panose="02020603050405020304" pitchFamily="18" charset="0"/>
              </a:rPr>
              <a:t>Welcome to the Paper Folding Test</a:t>
            </a:r>
            <a:br>
              <a:rPr lang="en-US" sz="6600" dirty="0">
                <a:solidFill>
                  <a:schemeClr val="bg1"/>
                </a:solidFill>
                <a:latin typeface="Times New Roman" panose="02020603050405020304" pitchFamily="18" charset="0"/>
                <a:cs typeface="Times New Roman" panose="02020603050405020304" pitchFamily="18" charset="0"/>
              </a:rPr>
            </a:br>
            <a:endParaRPr lang="en-US" sz="6600"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BC9EFA-D4BB-9040-8307-172BA328150A}"/>
              </a:ext>
            </a:extLst>
          </p:cNvPr>
          <p:cNvSpPr txBox="1"/>
          <p:nvPr/>
        </p:nvSpPr>
        <p:spPr>
          <a:xfrm>
            <a:off x="2351872" y="5986291"/>
            <a:ext cx="7488250" cy="400110"/>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Use the left and right arrow keys to move through the instruction slides.</a:t>
            </a:r>
          </a:p>
        </p:txBody>
      </p:sp>
      <p:sp>
        <p:nvSpPr>
          <p:cNvPr id="8" name="TextBox 7">
            <a:extLst>
              <a:ext uri="{FF2B5EF4-FFF2-40B4-BE49-F238E27FC236}">
                <a16:creationId xmlns:a16="http://schemas.microsoft.com/office/drawing/2014/main" id="{2ED290FD-F57E-424C-97D1-9324BA43EA89}"/>
              </a:ext>
            </a:extLst>
          </p:cNvPr>
          <p:cNvSpPr txBox="1"/>
          <p:nvPr/>
        </p:nvSpPr>
        <p:spPr>
          <a:xfrm>
            <a:off x="1086196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Next</a:t>
            </a:r>
          </a:p>
        </p:txBody>
      </p:sp>
    </p:spTree>
    <p:extLst>
      <p:ext uri="{BB962C8B-B14F-4D97-AF65-F5344CB8AC3E}">
        <p14:creationId xmlns:p14="http://schemas.microsoft.com/office/powerpoint/2010/main" val="227094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67E0-7841-4DBA-B5E2-2494AD88EE89}"/>
              </a:ext>
            </a:extLst>
          </p:cNvPr>
          <p:cNvSpPr>
            <a:spLocks noGrp="1"/>
          </p:cNvSpPr>
          <p:nvPr>
            <p:ph type="ctrTitle"/>
          </p:nvPr>
        </p:nvSpPr>
        <p:spPr>
          <a:xfrm>
            <a:off x="1558636" y="831273"/>
            <a:ext cx="9074727" cy="3086053"/>
          </a:xfrm>
        </p:spPr>
        <p:txBody>
          <a:bodyPr>
            <a:noAutofit/>
          </a:bodyPr>
          <a:lstStyle/>
          <a:p>
            <a:r>
              <a:rPr lang="en-US" sz="2800" dirty="0">
                <a:solidFill>
                  <a:schemeClr val="bg1"/>
                </a:solidFill>
                <a:latin typeface="Times New Roman" panose="02020603050405020304" pitchFamily="18" charset="0"/>
                <a:cs typeface="Times New Roman" panose="02020603050405020304" pitchFamily="18" charset="0"/>
              </a:rPr>
              <a:t>In this task, you are to imagine the folding and unfolding of pieces of paper.</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In each problem, there is a vertical line (circled in orange) that separates some figures to the left and others to the right. </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A sample problem is shown below.</a:t>
            </a:r>
          </a:p>
        </p:txBody>
      </p:sp>
      <p:pic>
        <p:nvPicPr>
          <p:cNvPr id="4" name="Picture 3" descr="Diagram&#10;&#10;Description automatically generated with medium confidence">
            <a:extLst>
              <a:ext uri="{FF2B5EF4-FFF2-40B4-BE49-F238E27FC236}">
                <a16:creationId xmlns:a16="http://schemas.microsoft.com/office/drawing/2014/main" id="{4D38E43F-7238-EA4B-ACEA-3EEECB94B6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218" y="4179031"/>
            <a:ext cx="7661564" cy="1650662"/>
          </a:xfrm>
          <a:prstGeom prst="rect">
            <a:avLst/>
          </a:prstGeom>
        </p:spPr>
      </p:pic>
      <p:sp>
        <p:nvSpPr>
          <p:cNvPr id="6" name="TextBox 5">
            <a:extLst>
              <a:ext uri="{FF2B5EF4-FFF2-40B4-BE49-F238E27FC236}">
                <a16:creationId xmlns:a16="http://schemas.microsoft.com/office/drawing/2014/main" id="{8AEE077E-009D-8F4D-B968-46AD5BDCEBE6}"/>
              </a:ext>
            </a:extLst>
          </p:cNvPr>
          <p:cNvSpPr txBox="1"/>
          <p:nvPr/>
        </p:nvSpPr>
        <p:spPr>
          <a:xfrm>
            <a:off x="59234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Back</a:t>
            </a:r>
          </a:p>
        </p:txBody>
      </p:sp>
      <p:sp>
        <p:nvSpPr>
          <p:cNvPr id="7" name="TextBox 6">
            <a:extLst>
              <a:ext uri="{FF2B5EF4-FFF2-40B4-BE49-F238E27FC236}">
                <a16:creationId xmlns:a16="http://schemas.microsoft.com/office/drawing/2014/main" id="{2E1B32D8-A562-DD44-BFAD-534AA8D8DFD2}"/>
              </a:ext>
            </a:extLst>
          </p:cNvPr>
          <p:cNvSpPr txBox="1"/>
          <p:nvPr/>
        </p:nvSpPr>
        <p:spPr>
          <a:xfrm>
            <a:off x="1086196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Next</a:t>
            </a:r>
          </a:p>
        </p:txBody>
      </p:sp>
    </p:spTree>
    <p:extLst>
      <p:ext uri="{BB962C8B-B14F-4D97-AF65-F5344CB8AC3E}">
        <p14:creationId xmlns:p14="http://schemas.microsoft.com/office/powerpoint/2010/main" val="4109730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67E0-7841-4DBA-B5E2-2494AD88EE89}"/>
              </a:ext>
            </a:extLst>
          </p:cNvPr>
          <p:cNvSpPr>
            <a:spLocks noGrp="1"/>
          </p:cNvSpPr>
          <p:nvPr>
            <p:ph type="ctrTitle"/>
          </p:nvPr>
        </p:nvSpPr>
        <p:spPr>
          <a:xfrm>
            <a:off x="1558636" y="797943"/>
            <a:ext cx="9074727" cy="1650662"/>
          </a:xfrm>
        </p:spPr>
        <p:txBody>
          <a:bodyPr>
            <a:noAutofit/>
          </a:bodyPr>
          <a:lstStyle/>
          <a:p>
            <a:r>
              <a:rPr lang="en-US" sz="2800" dirty="0">
                <a:solidFill>
                  <a:schemeClr val="bg1"/>
                </a:solidFill>
                <a:latin typeface="Times New Roman" panose="02020603050405020304" pitchFamily="18" charset="0"/>
                <a:cs typeface="Times New Roman" panose="02020603050405020304" pitchFamily="18" charset="0"/>
              </a:rPr>
              <a:t>The figures to the left (boxed in orange) represent a square piece of paper being folded step-by-step, and the last of these figures on the left will have a small circle drawn on it to show where the paper has been punched.</a:t>
            </a:r>
          </a:p>
        </p:txBody>
      </p:sp>
      <p:sp>
        <p:nvSpPr>
          <p:cNvPr id="4" name="Title 1">
            <a:extLst>
              <a:ext uri="{FF2B5EF4-FFF2-40B4-BE49-F238E27FC236}">
                <a16:creationId xmlns:a16="http://schemas.microsoft.com/office/drawing/2014/main" id="{AA84726E-6208-FE40-A686-EDEDB819E749}"/>
              </a:ext>
            </a:extLst>
          </p:cNvPr>
          <p:cNvSpPr txBox="1">
            <a:spLocks/>
          </p:cNvSpPr>
          <p:nvPr/>
        </p:nvSpPr>
        <p:spPr>
          <a:xfrm>
            <a:off x="1558636" y="4276355"/>
            <a:ext cx="9074727" cy="77585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solidFill>
                  <a:schemeClr val="bg1"/>
                </a:solidFill>
                <a:latin typeface="Times New Roman" panose="02020603050405020304" pitchFamily="18" charset="0"/>
                <a:cs typeface="Times New Roman" panose="02020603050405020304" pitchFamily="18" charset="0"/>
              </a:rPr>
              <a:t>The figures below show this folding and punching process.</a:t>
            </a:r>
          </a:p>
        </p:txBody>
      </p:sp>
      <p:pic>
        <p:nvPicPr>
          <p:cNvPr id="7" name="Picture 6" descr="Diagram&#10;&#10;Description automatically generated with low confidence">
            <a:extLst>
              <a:ext uri="{FF2B5EF4-FFF2-40B4-BE49-F238E27FC236}">
                <a16:creationId xmlns:a16="http://schemas.microsoft.com/office/drawing/2014/main" id="{E57F6204-F536-4E43-8FD2-FD104FCF5F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217" y="2662280"/>
            <a:ext cx="7661563" cy="1650662"/>
          </a:xfrm>
          <a:prstGeom prst="rect">
            <a:avLst/>
          </a:prstGeom>
        </p:spPr>
      </p:pic>
      <p:pic>
        <p:nvPicPr>
          <p:cNvPr id="9" name="Picture 8" descr="A picture containing text, handcart&#10;&#10;Description automatically generated">
            <a:extLst>
              <a:ext uri="{FF2B5EF4-FFF2-40B4-BE49-F238E27FC236}">
                <a16:creationId xmlns:a16="http://schemas.microsoft.com/office/drawing/2014/main" id="{0A936A5C-C697-0947-A421-C7CF54AA10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6387" y="5168610"/>
            <a:ext cx="6619236" cy="896881"/>
          </a:xfrm>
          <a:prstGeom prst="rect">
            <a:avLst/>
          </a:prstGeom>
        </p:spPr>
      </p:pic>
      <p:sp>
        <p:nvSpPr>
          <p:cNvPr id="8" name="TextBox 7">
            <a:extLst>
              <a:ext uri="{FF2B5EF4-FFF2-40B4-BE49-F238E27FC236}">
                <a16:creationId xmlns:a16="http://schemas.microsoft.com/office/drawing/2014/main" id="{64A2D85F-8ABF-8541-AEB0-82AC33E646F9}"/>
              </a:ext>
            </a:extLst>
          </p:cNvPr>
          <p:cNvSpPr txBox="1"/>
          <p:nvPr/>
        </p:nvSpPr>
        <p:spPr>
          <a:xfrm>
            <a:off x="59234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Back</a:t>
            </a:r>
          </a:p>
        </p:txBody>
      </p:sp>
      <p:sp>
        <p:nvSpPr>
          <p:cNvPr id="10" name="TextBox 9">
            <a:extLst>
              <a:ext uri="{FF2B5EF4-FFF2-40B4-BE49-F238E27FC236}">
                <a16:creationId xmlns:a16="http://schemas.microsoft.com/office/drawing/2014/main" id="{C31A153F-0503-0746-BA5A-FC664ADA637A}"/>
              </a:ext>
            </a:extLst>
          </p:cNvPr>
          <p:cNvSpPr txBox="1"/>
          <p:nvPr/>
        </p:nvSpPr>
        <p:spPr>
          <a:xfrm>
            <a:off x="1086196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Next</a:t>
            </a:r>
          </a:p>
        </p:txBody>
      </p:sp>
    </p:spTree>
    <p:extLst>
      <p:ext uri="{BB962C8B-B14F-4D97-AF65-F5344CB8AC3E}">
        <p14:creationId xmlns:p14="http://schemas.microsoft.com/office/powerpoint/2010/main" val="3899688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67E0-7841-4DBA-B5E2-2494AD88EE89}"/>
              </a:ext>
            </a:extLst>
          </p:cNvPr>
          <p:cNvSpPr>
            <a:spLocks noGrp="1"/>
          </p:cNvSpPr>
          <p:nvPr>
            <p:ph type="ctrTitle"/>
          </p:nvPr>
        </p:nvSpPr>
        <p:spPr>
          <a:xfrm>
            <a:off x="1558636" y="620704"/>
            <a:ext cx="9074727" cy="2597727"/>
          </a:xfrm>
        </p:spPr>
        <p:txBody>
          <a:bodyPr>
            <a:noAutofit/>
          </a:bodyPr>
          <a:lstStyle/>
          <a:p>
            <a:r>
              <a:rPr lang="en-US" sz="2800" dirty="0">
                <a:solidFill>
                  <a:schemeClr val="bg1"/>
                </a:solidFill>
                <a:latin typeface="Times New Roman" panose="02020603050405020304" pitchFamily="18" charset="0"/>
                <a:cs typeface="Times New Roman" panose="02020603050405020304" pitchFamily="18" charset="0"/>
              </a:rPr>
              <a:t>Each hole is punched through all the thicknesses of the paper at that point.</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One of the five figures to the right of the vertical line (boxed in orange) shows where the holes could be when the paper is completely unfolded.</a:t>
            </a:r>
          </a:p>
        </p:txBody>
      </p:sp>
      <p:sp>
        <p:nvSpPr>
          <p:cNvPr id="4" name="Title 1">
            <a:extLst>
              <a:ext uri="{FF2B5EF4-FFF2-40B4-BE49-F238E27FC236}">
                <a16:creationId xmlns:a16="http://schemas.microsoft.com/office/drawing/2014/main" id="{AA84726E-6208-FE40-A686-EDEDB819E749}"/>
              </a:ext>
            </a:extLst>
          </p:cNvPr>
          <p:cNvSpPr txBox="1">
            <a:spLocks/>
          </p:cNvSpPr>
          <p:nvPr/>
        </p:nvSpPr>
        <p:spPr>
          <a:xfrm>
            <a:off x="1558636" y="5309487"/>
            <a:ext cx="9074727" cy="77585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solidFill>
                  <a:schemeClr val="bg1"/>
                </a:solidFill>
                <a:latin typeface="Times New Roman" panose="02020603050405020304" pitchFamily="18" charset="0"/>
                <a:cs typeface="Times New Roman" panose="02020603050405020304" pitchFamily="18" charset="0"/>
              </a:rPr>
              <a:t>You are to decide which one of these figures has the correct placement of the holes.</a:t>
            </a:r>
          </a:p>
        </p:txBody>
      </p:sp>
      <p:pic>
        <p:nvPicPr>
          <p:cNvPr id="7" name="Picture 6" descr="Diagram&#10;&#10;Description automatically generated with medium confidence">
            <a:extLst>
              <a:ext uri="{FF2B5EF4-FFF2-40B4-BE49-F238E27FC236}">
                <a16:creationId xmlns:a16="http://schemas.microsoft.com/office/drawing/2014/main" id="{2FCAB89D-D80F-5F4E-8658-7A0032CB2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217" y="3345110"/>
            <a:ext cx="7661563" cy="1650662"/>
          </a:xfrm>
          <a:prstGeom prst="rect">
            <a:avLst/>
          </a:prstGeom>
        </p:spPr>
      </p:pic>
      <p:sp>
        <p:nvSpPr>
          <p:cNvPr id="6" name="TextBox 5">
            <a:extLst>
              <a:ext uri="{FF2B5EF4-FFF2-40B4-BE49-F238E27FC236}">
                <a16:creationId xmlns:a16="http://schemas.microsoft.com/office/drawing/2014/main" id="{1DCC1FA5-48EC-9342-9DF0-60860119217C}"/>
              </a:ext>
            </a:extLst>
          </p:cNvPr>
          <p:cNvSpPr txBox="1"/>
          <p:nvPr/>
        </p:nvSpPr>
        <p:spPr>
          <a:xfrm>
            <a:off x="59234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Back</a:t>
            </a:r>
          </a:p>
        </p:txBody>
      </p:sp>
      <p:sp>
        <p:nvSpPr>
          <p:cNvPr id="9" name="TextBox 8">
            <a:extLst>
              <a:ext uri="{FF2B5EF4-FFF2-40B4-BE49-F238E27FC236}">
                <a16:creationId xmlns:a16="http://schemas.microsoft.com/office/drawing/2014/main" id="{BE5A0895-0F09-FC47-B3E9-18DE3F4D8990}"/>
              </a:ext>
            </a:extLst>
          </p:cNvPr>
          <p:cNvSpPr txBox="1"/>
          <p:nvPr/>
        </p:nvSpPr>
        <p:spPr>
          <a:xfrm>
            <a:off x="1086196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Next</a:t>
            </a:r>
          </a:p>
        </p:txBody>
      </p:sp>
    </p:spTree>
    <p:extLst>
      <p:ext uri="{BB962C8B-B14F-4D97-AF65-F5344CB8AC3E}">
        <p14:creationId xmlns:p14="http://schemas.microsoft.com/office/powerpoint/2010/main" val="1471029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81818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67E0-7841-4DBA-B5E2-2494AD88EE89}"/>
              </a:ext>
            </a:extLst>
          </p:cNvPr>
          <p:cNvSpPr>
            <a:spLocks noGrp="1"/>
          </p:cNvSpPr>
          <p:nvPr>
            <p:ph type="ctrTitle"/>
          </p:nvPr>
        </p:nvSpPr>
        <p:spPr>
          <a:xfrm>
            <a:off x="1558635" y="994740"/>
            <a:ext cx="9074727" cy="2597727"/>
          </a:xfrm>
        </p:spPr>
        <p:txBody>
          <a:bodyPr>
            <a:noAutofit/>
          </a:bodyPr>
          <a:lstStyle/>
          <a:p>
            <a:r>
              <a:rPr lang="en-US" sz="2800" dirty="0">
                <a:solidFill>
                  <a:schemeClr val="bg1"/>
                </a:solidFill>
                <a:latin typeface="Times New Roman" panose="02020603050405020304" pitchFamily="18" charset="0"/>
                <a:cs typeface="Times New Roman" panose="02020603050405020304" pitchFamily="18" charset="0"/>
              </a:rPr>
              <a:t>Now try the sample problem on the next slide.</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Once you’ve decided which one of these figures has the correct placement of the holes, press the number (1, 2, 3, 4, or 5) on your keyboard that you feel corresponds with the correct answer.</a:t>
            </a:r>
          </a:p>
        </p:txBody>
      </p:sp>
      <p:pic>
        <p:nvPicPr>
          <p:cNvPr id="6" name="Picture 5" descr="A picture containing electronics, keyboard, computer, close&#10;&#10;Description automatically generated">
            <a:extLst>
              <a:ext uri="{FF2B5EF4-FFF2-40B4-BE49-F238E27FC236}">
                <a16:creationId xmlns:a16="http://schemas.microsoft.com/office/drawing/2014/main" id="{2AEF4D3A-6912-F54A-B0CE-0ABDB14857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0404" y="3592467"/>
            <a:ext cx="5431186" cy="1955986"/>
          </a:xfrm>
          <a:prstGeom prst="rect">
            <a:avLst/>
          </a:prstGeom>
        </p:spPr>
      </p:pic>
      <p:sp>
        <p:nvSpPr>
          <p:cNvPr id="9" name="TextBox 8">
            <a:extLst>
              <a:ext uri="{FF2B5EF4-FFF2-40B4-BE49-F238E27FC236}">
                <a16:creationId xmlns:a16="http://schemas.microsoft.com/office/drawing/2014/main" id="{9820AC73-D317-C249-BD3B-84C4C7D640DA}"/>
              </a:ext>
            </a:extLst>
          </p:cNvPr>
          <p:cNvSpPr txBox="1"/>
          <p:nvPr/>
        </p:nvSpPr>
        <p:spPr>
          <a:xfrm>
            <a:off x="592344" y="5926610"/>
            <a:ext cx="737692" cy="707886"/>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 </a:t>
            </a:r>
          </a:p>
          <a:p>
            <a:pPr lvl="0" algn="ctr">
              <a:defRPr/>
            </a:pPr>
            <a:r>
              <a:rPr lang="en-US" sz="2000" dirty="0">
                <a:solidFill>
                  <a:schemeClr val="bg1"/>
                </a:solidFill>
                <a:latin typeface="Times New Roman" panose="02020603050405020304" pitchFamily="18" charset="0"/>
                <a:cs typeface="Times New Roman" panose="02020603050405020304" pitchFamily="18" charset="0"/>
              </a:rPr>
              <a:t>Back</a:t>
            </a:r>
          </a:p>
        </p:txBody>
      </p:sp>
      <p:sp>
        <p:nvSpPr>
          <p:cNvPr id="12" name="TextBox 11">
            <a:extLst>
              <a:ext uri="{FF2B5EF4-FFF2-40B4-BE49-F238E27FC236}">
                <a16:creationId xmlns:a16="http://schemas.microsoft.com/office/drawing/2014/main" id="{CB15C59A-2AEE-ED41-994C-7F643452C6B1}"/>
              </a:ext>
            </a:extLst>
          </p:cNvPr>
          <p:cNvSpPr txBox="1"/>
          <p:nvPr/>
        </p:nvSpPr>
        <p:spPr>
          <a:xfrm>
            <a:off x="1787766" y="5990139"/>
            <a:ext cx="8616462" cy="400110"/>
          </a:xfrm>
          <a:prstGeom prst="rect">
            <a:avLst/>
          </a:prstGeom>
          <a:noFill/>
        </p:spPr>
        <p:txBody>
          <a:bodyPr wrap="square" rtlCol="0">
            <a:spAutoFit/>
          </a:bodyPr>
          <a:lstStyle/>
          <a:p>
            <a:pPr lvl="0" algn="ctr">
              <a:defRPr/>
            </a:pPr>
            <a:r>
              <a:rPr lang="en-US" sz="2000" dirty="0">
                <a:solidFill>
                  <a:schemeClr val="bg1"/>
                </a:solidFill>
                <a:latin typeface="Times New Roman" panose="02020603050405020304" pitchFamily="18" charset="0"/>
                <a:cs typeface="Times New Roman" panose="02020603050405020304" pitchFamily="18" charset="0"/>
              </a:rPr>
              <a:t>When you’re ready to try to sample problem, press the </a:t>
            </a:r>
            <a:r>
              <a:rPr lang="en-US" sz="2000" u="sng" dirty="0">
                <a:solidFill>
                  <a:schemeClr val="bg1"/>
                </a:solidFill>
                <a:latin typeface="Times New Roman" panose="02020603050405020304" pitchFamily="18" charset="0"/>
                <a:cs typeface="Times New Roman" panose="02020603050405020304" pitchFamily="18" charset="0"/>
              </a:rPr>
              <a:t>space bar</a:t>
            </a:r>
            <a:r>
              <a:rPr lang="en-US" sz="2000" dirty="0">
                <a:solidFill>
                  <a:schemeClr val="bg1"/>
                </a:solidFill>
                <a:latin typeface="Times New Roman" panose="02020603050405020304" pitchFamily="18" charset="0"/>
                <a:cs typeface="Times New Roman" panose="02020603050405020304" pitchFamily="18" charset="0"/>
              </a:rPr>
              <a:t> to continue.</a:t>
            </a:r>
          </a:p>
        </p:txBody>
      </p:sp>
    </p:spTree>
    <p:extLst>
      <p:ext uri="{BB962C8B-B14F-4D97-AF65-F5344CB8AC3E}">
        <p14:creationId xmlns:p14="http://schemas.microsoft.com/office/powerpoint/2010/main" val="2050346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TotalTime>
  <Words>294</Words>
  <Application>Microsoft Macintosh PowerPoint</Application>
  <PresentationFormat>Widescreen</PresentationFormat>
  <Paragraphs>28</Paragraphs>
  <Slides>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Times New Roman</vt:lpstr>
      <vt:lpstr>Office Theme</vt:lpstr>
      <vt:lpstr>Welcome to the Paper Folding Test </vt:lpstr>
      <vt:lpstr>In this task, you are to imagine the folding and unfolding of pieces of paper.  In each problem, there is a vertical line (circled in orange) that separates some figures to the left and others to the right.   A sample problem is shown below.</vt:lpstr>
      <vt:lpstr>The figures to the left (boxed in orange) represent a square piece of paper being folded step-by-step, and the last of these figures on the left will have a small circle drawn on it to show where the paper has been punched.</vt:lpstr>
      <vt:lpstr>Each hole is punched through all the thicknesses of the paper at that point.  One of the five figures to the right of the vertical line (boxed in orange) shows where the holes could be when the paper is completely unfolded.</vt:lpstr>
      <vt:lpstr>Now try the sample problem on the next slide.  Once you’ve decided which one of these figures has the correct placement of the holes, press the number (1, 2, 3, 4, or 5) on your keyboard that you feel corresponds with the correct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Buonauro</dc:creator>
  <cp:lastModifiedBy>Alina Tu</cp:lastModifiedBy>
  <cp:revision>39</cp:revision>
  <dcterms:created xsi:type="dcterms:W3CDTF">2020-10-05T18:29:27Z</dcterms:created>
  <dcterms:modified xsi:type="dcterms:W3CDTF">2022-03-05T02:52:16Z</dcterms:modified>
</cp:coreProperties>
</file>