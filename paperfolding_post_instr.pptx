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86" r:id="rId2"/>
    <p:sldId id="280" r:id="rId3"/>
    <p:sldId id="285" r:id="rId4"/>
    <p:sldId id="282" r:id="rId5"/>
    <p:sldId id="283" r:id="rId6"/>
    <p:sldId id="28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181"/>
    <a:srgbClr val="FC6977"/>
    <a:srgbClr val="7F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69" autoAdjust="0"/>
    <p:restoredTop sz="86190"/>
  </p:normalViewPr>
  <p:slideViewPr>
    <p:cSldViewPr snapToGrid="0">
      <p:cViewPr varScale="1">
        <p:scale>
          <a:sx n="109" d="100"/>
          <a:sy n="109" d="100"/>
        </p:scale>
        <p:origin x="296"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27CBA6-04B2-9444-B4FE-E63588113F7E}" type="datetimeFigureOut">
              <a:rPr lang="en-US" smtClean="0"/>
              <a:t>5/12/22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0AC1E7-10EE-9D4B-B23D-B0D6C1341B02}" type="slidenum">
              <a:rPr lang="en-US" smtClean="0"/>
              <a:t>‹#›</a:t>
            </a:fld>
            <a:endParaRPr lang="en-US"/>
          </a:p>
        </p:txBody>
      </p:sp>
    </p:spTree>
    <p:extLst>
      <p:ext uri="{BB962C8B-B14F-4D97-AF65-F5344CB8AC3E}">
        <p14:creationId xmlns:p14="http://schemas.microsoft.com/office/powerpoint/2010/main" val="191760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0AC1E7-10EE-9D4B-B23D-B0D6C1341B02}" type="slidenum">
              <a:rPr lang="en-US" smtClean="0"/>
              <a:t>6</a:t>
            </a:fld>
            <a:endParaRPr lang="en-US"/>
          </a:p>
        </p:txBody>
      </p:sp>
    </p:spTree>
    <p:extLst>
      <p:ext uri="{BB962C8B-B14F-4D97-AF65-F5344CB8AC3E}">
        <p14:creationId xmlns:p14="http://schemas.microsoft.com/office/powerpoint/2010/main" val="295373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1B085-9EFA-48A7-BD4E-9196E1849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D5B11C-64F4-4AB2-A282-55B1F9595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4C5275-E070-442F-87F1-80E14CDED3CF}"/>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09B34E47-93D7-4207-970B-4A0637B811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E44ED-9C46-45A1-839C-4245D0079C33}"/>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944236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CA6F-7119-4BB6-B664-A73A9D0CAE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DE7A59-7F04-468E-8118-E54EA1A1C81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88DE4-87A8-4C50-ABDD-1447B789C5C2}"/>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5772A7B7-6A6B-4C38-8F34-F9DF32C0C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45EFA-CDE7-4BE3-932E-071BF3D91F58}"/>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2241319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46C2-E9C8-42DA-B78A-E2ECC301C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9504A5-91D7-4E11-AEC8-C0F6646309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7225F01-DB9F-4A8B-9FAA-A3A23EDBE285}"/>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6345AF3F-0FD6-403C-BA6F-777E796B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84A85-143A-4684-B300-58680F004E01}"/>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61073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B1D6-799A-4C58-BC56-B681C3A78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8336E1-6BA3-4D40-885D-89D3127AE7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D476A2-D369-4DE4-91F6-A2C92135279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6C2375-697F-4273-B78D-FFFEE34C03E5}"/>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6" name="Footer Placeholder 5">
            <a:extLst>
              <a:ext uri="{FF2B5EF4-FFF2-40B4-BE49-F238E27FC236}">
                <a16:creationId xmlns:a16="http://schemas.microsoft.com/office/drawing/2014/main" id="{C1E1ACC3-98A3-4AF3-9EF6-75914D447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7CBC94-EC7B-48AF-BF34-16D6E73EFB62}"/>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307696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4212-473A-43EC-98FA-5270B0D1D9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0BD204-1CCB-4850-9048-B9FE6A207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3537428-C0F5-4131-BB62-88AFF2DE750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050067-7A08-43FB-B68C-ED7621C39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C0A6C6-6FBD-4351-81B6-39E490DE2AC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921768-147A-4CAF-901D-9BDFC321B8AA}"/>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8" name="Footer Placeholder 7">
            <a:extLst>
              <a:ext uri="{FF2B5EF4-FFF2-40B4-BE49-F238E27FC236}">
                <a16:creationId xmlns:a16="http://schemas.microsoft.com/office/drawing/2014/main" id="{87AE2981-DD27-4D79-97D2-3C2937479B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92EA5C-22CB-480D-90CF-4501A47A1CE2}"/>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372773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CC05-BB15-44F9-959C-8D9751D671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AE905-0CAE-408A-A380-EC2F08FBFEA1}"/>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4" name="Footer Placeholder 3">
            <a:extLst>
              <a:ext uri="{FF2B5EF4-FFF2-40B4-BE49-F238E27FC236}">
                <a16:creationId xmlns:a16="http://schemas.microsoft.com/office/drawing/2014/main" id="{0CAC18A0-A024-47EB-999E-73108F3B29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2A33B-7A23-4727-83E2-1E6718FE5A61}"/>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105182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9905BB-84ED-4CD8-861A-6F7889B782D4}"/>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3" name="Footer Placeholder 2">
            <a:extLst>
              <a:ext uri="{FF2B5EF4-FFF2-40B4-BE49-F238E27FC236}">
                <a16:creationId xmlns:a16="http://schemas.microsoft.com/office/drawing/2014/main" id="{0DD52F06-D930-4CC6-8364-9059225754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F5A9FD-3B65-484D-AA91-EADDAE469B04}"/>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710587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BE0E4-E059-47A3-A716-3EFE57A6C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514E16-E4DD-419A-AB98-0EDE88C42C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36E8E-E41F-4288-A6CB-86CA708EA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D17F5FE-E950-40B6-A7A4-5B0FAF5C013D}"/>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6" name="Footer Placeholder 5">
            <a:extLst>
              <a:ext uri="{FF2B5EF4-FFF2-40B4-BE49-F238E27FC236}">
                <a16:creationId xmlns:a16="http://schemas.microsoft.com/office/drawing/2014/main" id="{65FA2E80-B3FE-4119-9FEA-97D1CAB8B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5E260A-CAF3-47C9-8428-D73C50085134}"/>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94545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FA14F-5E21-452F-A322-209217ED20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69752B-5006-4E4E-BCB0-8269BD906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FA0DCA-6F96-43A6-B098-84BF3D0C0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51E0E2E-DEEF-4DAB-B6AA-4228CA174EC3}"/>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6" name="Footer Placeholder 5">
            <a:extLst>
              <a:ext uri="{FF2B5EF4-FFF2-40B4-BE49-F238E27FC236}">
                <a16:creationId xmlns:a16="http://schemas.microsoft.com/office/drawing/2014/main" id="{2A119B68-26C8-4266-BCB7-2A63CB14B7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0BD00F-A524-4AED-9361-BA5C5E3815FF}"/>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2046071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029EA-12B1-4ADE-BCB8-913CE4EC24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36D2F9-98A3-4F55-B8F9-D19EF2CE88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663C4F-636A-4BCB-BFDF-A2D5F629AD8E}"/>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D6D72AAE-E514-4AFC-B186-3805B2CF2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0410F-BCFE-48DA-9B04-8E74FB986E5F}"/>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864671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44AC1-BEDD-4B69-9927-6BC5826849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7DA04E-D4DE-4D94-913E-AC6843200AB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B64783-5D97-4B53-AE98-E2141F25C0F4}"/>
              </a:ext>
            </a:extLst>
          </p:cNvPr>
          <p:cNvSpPr>
            <a:spLocks noGrp="1"/>
          </p:cNvSpPr>
          <p:nvPr>
            <p:ph type="dt" sz="half" idx="10"/>
          </p:nvPr>
        </p:nvSpPr>
        <p:spPr/>
        <p:txBody>
          <a:body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52EF40AB-F6F8-4188-AC80-BD1E929DF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AB731-7B36-4A74-A5D5-122CACB84579}"/>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1769696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BFB83D-A005-4ADC-847F-F921241B4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BF32D5-429A-4328-BFCF-587008A73A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CAC44-8161-4A98-B047-95568552A9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B41877-1F53-4965-BB1A-EB92CF4A25A6}" type="datetimeFigureOut">
              <a:rPr lang="en-US" smtClean="0"/>
              <a:t>5/12/22</a:t>
            </a:fld>
            <a:endParaRPr lang="en-US"/>
          </a:p>
        </p:txBody>
      </p:sp>
      <p:sp>
        <p:nvSpPr>
          <p:cNvPr id="5" name="Footer Placeholder 4">
            <a:extLst>
              <a:ext uri="{FF2B5EF4-FFF2-40B4-BE49-F238E27FC236}">
                <a16:creationId xmlns:a16="http://schemas.microsoft.com/office/drawing/2014/main" id="{DB68C8A2-B420-4842-B2D4-D8FC9D16B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3130A1-9036-4D88-AA59-AA0BE66473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6264-7D2C-46AD-847B-9BB056A8B49F}" type="slidenum">
              <a:rPr lang="en-US" smtClean="0"/>
              <a:t>‹#›</a:t>
            </a:fld>
            <a:endParaRPr lang="en-US"/>
          </a:p>
        </p:txBody>
      </p:sp>
    </p:spTree>
    <p:extLst>
      <p:ext uri="{BB962C8B-B14F-4D97-AF65-F5344CB8AC3E}">
        <p14:creationId xmlns:p14="http://schemas.microsoft.com/office/powerpoint/2010/main" val="2642854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846117" y="3653853"/>
            <a:ext cx="8499763" cy="883920"/>
          </a:xfrm>
        </p:spPr>
        <p:txBody>
          <a:bodyPr>
            <a:noAutofit/>
          </a:bodyPr>
          <a:lstStyle/>
          <a:p>
            <a:r>
              <a:rPr lang="en-US" sz="2400" dirty="0">
                <a:solidFill>
                  <a:schemeClr val="bg1"/>
                </a:solidFill>
                <a:latin typeface="Times New Roman" panose="02020603050405020304" pitchFamily="18" charset="0"/>
                <a:cs typeface="Times New Roman" panose="02020603050405020304" pitchFamily="18" charset="0"/>
              </a:rPr>
              <a:t>The correct answer is 3! The figures on the next slide will show how the paper was folded and why 3 is the correct answer.</a:t>
            </a:r>
          </a:p>
        </p:txBody>
      </p:sp>
      <p:sp>
        <p:nvSpPr>
          <p:cNvPr id="6" name="TextBox 5">
            <a:extLst>
              <a:ext uri="{FF2B5EF4-FFF2-40B4-BE49-F238E27FC236}">
                <a16:creationId xmlns:a16="http://schemas.microsoft.com/office/drawing/2014/main" id="{DEE9B641-B4E8-EA4A-B05A-722E17BEF40D}"/>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pic>
        <p:nvPicPr>
          <p:cNvPr id="11" name="Picture 10" descr="Diagram&#10;&#10;Description automatically generated with low confidence">
            <a:extLst>
              <a:ext uri="{FF2B5EF4-FFF2-40B4-BE49-F238E27FC236}">
                <a16:creationId xmlns:a16="http://schemas.microsoft.com/office/drawing/2014/main" id="{43026695-702B-7248-AD86-757FBF222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8961" y="1887675"/>
            <a:ext cx="7154076" cy="1541325"/>
          </a:xfrm>
          <a:prstGeom prst="rect">
            <a:avLst/>
          </a:prstGeom>
        </p:spPr>
      </p:pic>
      <p:sp>
        <p:nvSpPr>
          <p:cNvPr id="3" name="Oval 2">
            <a:extLst>
              <a:ext uri="{FF2B5EF4-FFF2-40B4-BE49-F238E27FC236}">
                <a16:creationId xmlns:a16="http://schemas.microsoft.com/office/drawing/2014/main" id="{4DFF1AD9-BDA9-CBD6-71AB-561709670144}"/>
              </a:ext>
            </a:extLst>
          </p:cNvPr>
          <p:cNvSpPr/>
          <p:nvPr/>
        </p:nvSpPr>
        <p:spPr>
          <a:xfrm>
            <a:off x="6893167" y="1774191"/>
            <a:ext cx="914400" cy="1766178"/>
          </a:xfrm>
          <a:prstGeom prst="ellipse">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78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E9B641-B4E8-EA4A-B05A-722E17BEF40D}"/>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
        <p:nvSpPr>
          <p:cNvPr id="8" name="Title 1">
            <a:extLst>
              <a:ext uri="{FF2B5EF4-FFF2-40B4-BE49-F238E27FC236}">
                <a16:creationId xmlns:a16="http://schemas.microsoft.com/office/drawing/2014/main" id="{72109899-180B-6148-8752-3D842303A47B}"/>
              </a:ext>
            </a:extLst>
          </p:cNvPr>
          <p:cNvSpPr txBox="1">
            <a:spLocks/>
          </p:cNvSpPr>
          <p:nvPr/>
        </p:nvSpPr>
        <p:spPr>
          <a:xfrm>
            <a:off x="1761125" y="4661507"/>
            <a:ext cx="8692650" cy="137327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chemeClr val="bg1"/>
                </a:solidFill>
                <a:latin typeface="Times New Roman" panose="02020603050405020304" pitchFamily="18" charset="0"/>
                <a:cs typeface="Times New Roman" panose="02020603050405020304" pitchFamily="18" charset="0"/>
              </a:rPr>
              <a:t>Here, only </a:t>
            </a:r>
            <a:r>
              <a:rPr lang="en-US" sz="2400" u="sng" dirty="0">
                <a:solidFill>
                  <a:schemeClr val="bg1"/>
                </a:solidFill>
                <a:latin typeface="Times New Roman" panose="02020603050405020304" pitchFamily="18" charset="0"/>
                <a:cs typeface="Times New Roman" panose="02020603050405020304" pitchFamily="18" charset="0"/>
              </a:rPr>
              <a:t>1 fold</a:t>
            </a:r>
            <a:r>
              <a:rPr lang="en-US" sz="2400" dirty="0">
                <a:solidFill>
                  <a:schemeClr val="bg1"/>
                </a:solidFill>
                <a:latin typeface="Times New Roman" panose="02020603050405020304" pitchFamily="18" charset="0"/>
                <a:cs typeface="Times New Roman" panose="02020603050405020304" pitchFamily="18" charset="0"/>
              </a:rPr>
              <a:t> was made, hence there are 2 boxes on the left of the vertical line: </a:t>
            </a:r>
            <a:r>
              <a:rPr lang="en-US" sz="2400" u="sng" dirty="0">
                <a:solidFill>
                  <a:schemeClr val="bg1"/>
                </a:solidFill>
                <a:latin typeface="Times New Roman" panose="02020603050405020304" pitchFamily="18" charset="0"/>
                <a:cs typeface="Times New Roman" panose="02020603050405020304" pitchFamily="18" charset="0"/>
              </a:rPr>
              <a:t>1 fold</a:t>
            </a:r>
            <a:r>
              <a:rPr lang="en-US" sz="2400" dirty="0">
                <a:solidFill>
                  <a:schemeClr val="bg1"/>
                </a:solidFill>
                <a:latin typeface="Times New Roman" panose="02020603050405020304" pitchFamily="18" charset="0"/>
                <a:cs typeface="Times New Roman" panose="02020603050405020304" pitchFamily="18" charset="0"/>
              </a:rPr>
              <a:t>, 1 punch (both boxed in orange). Other problems may have more than 1 fold before a hole is punched through the paper. You are to imagine the steps that it takes to go from an unfolded square paper to the images boxed in orange.</a:t>
            </a:r>
          </a:p>
        </p:txBody>
      </p:sp>
      <p:pic>
        <p:nvPicPr>
          <p:cNvPr id="9" name="Picture 8" descr="Graphical user interface&#10;&#10;Description automatically generated with medium confidence">
            <a:extLst>
              <a:ext uri="{FF2B5EF4-FFF2-40B4-BE49-F238E27FC236}">
                <a16:creationId xmlns:a16="http://schemas.microsoft.com/office/drawing/2014/main" id="{2FAB4FAD-699D-884C-B51C-6AB7719D70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6722" y="2187179"/>
            <a:ext cx="6761456" cy="1858110"/>
          </a:xfrm>
          <a:prstGeom prst="rect">
            <a:avLst/>
          </a:prstGeom>
        </p:spPr>
      </p:pic>
      <p:pic>
        <p:nvPicPr>
          <p:cNvPr id="11" name="Picture 10" descr="Diagram&#10;&#10;Description automatically generated with low confidence">
            <a:extLst>
              <a:ext uri="{FF2B5EF4-FFF2-40B4-BE49-F238E27FC236}">
                <a16:creationId xmlns:a16="http://schemas.microsoft.com/office/drawing/2014/main" id="{43026695-702B-7248-AD86-757FBF222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9261" y="559140"/>
            <a:ext cx="4264365" cy="1011821"/>
          </a:xfrm>
          <a:prstGeom prst="rect">
            <a:avLst/>
          </a:prstGeom>
        </p:spPr>
      </p:pic>
      <p:sp>
        <p:nvSpPr>
          <p:cNvPr id="10" name="Oval 9">
            <a:extLst>
              <a:ext uri="{FF2B5EF4-FFF2-40B4-BE49-F238E27FC236}">
                <a16:creationId xmlns:a16="http://schemas.microsoft.com/office/drawing/2014/main" id="{CA9AE490-041B-3E50-1940-5200154880E5}"/>
              </a:ext>
            </a:extLst>
          </p:cNvPr>
          <p:cNvSpPr/>
          <p:nvPr/>
        </p:nvSpPr>
        <p:spPr>
          <a:xfrm>
            <a:off x="6342183" y="501240"/>
            <a:ext cx="590454" cy="1127619"/>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8D31FBB-117F-4E4C-8AAB-8596A75B5AB9}"/>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cxnSp>
        <p:nvCxnSpPr>
          <p:cNvPr id="22" name="Straight Arrow Connector 21">
            <a:extLst>
              <a:ext uri="{FF2B5EF4-FFF2-40B4-BE49-F238E27FC236}">
                <a16:creationId xmlns:a16="http://schemas.microsoft.com/office/drawing/2014/main" id="{BDA89355-ECE5-96EC-F485-6FE5B28B305E}"/>
              </a:ext>
            </a:extLst>
          </p:cNvPr>
          <p:cNvCxnSpPr>
            <a:cxnSpLocks/>
          </p:cNvCxnSpPr>
          <p:nvPr/>
        </p:nvCxnSpPr>
        <p:spPr>
          <a:xfrm flipH="1" flipV="1">
            <a:off x="4260185" y="1424763"/>
            <a:ext cx="2427694" cy="820314"/>
          </a:xfrm>
          <a:prstGeom prst="straightConnector1">
            <a:avLst/>
          </a:prstGeom>
          <a:ln w="38100">
            <a:solidFill>
              <a:schemeClr val="accent2">
                <a:lumMod val="60000"/>
                <a:lumOff val="40000"/>
              </a:schemeClr>
            </a:solidFill>
            <a:prstDash val="dash"/>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2A0E843F-6FB5-8F38-982F-17585BA118AE}"/>
              </a:ext>
            </a:extLst>
          </p:cNvPr>
          <p:cNvCxnSpPr>
            <a:cxnSpLocks/>
          </p:cNvCxnSpPr>
          <p:nvPr/>
        </p:nvCxnSpPr>
        <p:spPr>
          <a:xfrm flipH="1" flipV="1">
            <a:off x="4858978" y="1424763"/>
            <a:ext cx="4226543" cy="820314"/>
          </a:xfrm>
          <a:prstGeom prst="straightConnector1">
            <a:avLst/>
          </a:prstGeom>
          <a:ln w="38100">
            <a:solidFill>
              <a:schemeClr val="accent2">
                <a:lumMod val="60000"/>
                <a:lumOff val="40000"/>
              </a:schemeClr>
            </a:solidFill>
            <a:prstDash val="dash"/>
            <a:headEnd type="none" w="med" len="med"/>
            <a:tailEnd type="arrow"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9730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588077" y="1425169"/>
            <a:ext cx="9015845" cy="4007661"/>
          </a:xfrm>
        </p:spPr>
        <p:txBody>
          <a:bodyPr>
            <a:noAutofit/>
          </a:bodyPr>
          <a:lstStyle/>
          <a:p>
            <a:r>
              <a:rPr lang="en-US" sz="2800" dirty="0">
                <a:solidFill>
                  <a:schemeClr val="bg1"/>
                </a:solidFill>
                <a:latin typeface="Times New Roman" panose="02020603050405020304" pitchFamily="18" charset="0"/>
                <a:cs typeface="Times New Roman" panose="02020603050405020304" pitchFamily="18" charset="0"/>
              </a:rPr>
              <a:t>As in the sample problem, in the following problems, all folds are shown in the figures to the </a:t>
            </a:r>
            <a:r>
              <a:rPr lang="en-US" sz="2800" u="sng" dirty="0">
                <a:solidFill>
                  <a:schemeClr val="bg1"/>
                </a:solidFill>
                <a:latin typeface="Times New Roman" panose="02020603050405020304" pitchFamily="18" charset="0"/>
                <a:cs typeface="Times New Roman" panose="02020603050405020304" pitchFamily="18" charset="0"/>
              </a:rPr>
              <a:t>left</a:t>
            </a:r>
            <a:r>
              <a:rPr lang="en-US" sz="2800" dirty="0">
                <a:solidFill>
                  <a:schemeClr val="bg1"/>
                </a:solidFill>
                <a:latin typeface="Times New Roman" panose="02020603050405020304" pitchFamily="18" charset="0"/>
                <a:cs typeface="Times New Roman" panose="02020603050405020304" pitchFamily="18" charset="0"/>
              </a:rPr>
              <a:t> of the vertical line. You’ll be using the same paper folding method for the following problems. </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Remember the paper is </a:t>
            </a:r>
            <a:r>
              <a:rPr lang="en-US" sz="2800" u="sng" dirty="0">
                <a:solidFill>
                  <a:schemeClr val="bg1"/>
                </a:solidFill>
                <a:latin typeface="Times New Roman" panose="02020603050405020304" pitchFamily="18" charset="0"/>
                <a:cs typeface="Times New Roman" panose="02020603050405020304" pitchFamily="18" charset="0"/>
              </a:rPr>
              <a:t>not</a:t>
            </a:r>
            <a:r>
              <a:rPr lang="en-US" sz="2800" dirty="0">
                <a:solidFill>
                  <a:schemeClr val="bg1"/>
                </a:solidFill>
                <a:latin typeface="Times New Roman" panose="02020603050405020304" pitchFamily="18" charset="0"/>
                <a:cs typeface="Times New Roman" panose="02020603050405020304" pitchFamily="18" charset="0"/>
              </a:rPr>
              <a:t> turned or moved in any way except the make and unravel the folds in the figures.</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The correct answer is the figure that shows the proper positions of the holes when the paper is completely unfolded.</a:t>
            </a:r>
          </a:p>
        </p:txBody>
      </p:sp>
      <p:sp>
        <p:nvSpPr>
          <p:cNvPr id="5" name="TextBox 4">
            <a:extLst>
              <a:ext uri="{FF2B5EF4-FFF2-40B4-BE49-F238E27FC236}">
                <a16:creationId xmlns:a16="http://schemas.microsoft.com/office/drawing/2014/main" id="{972A0E5E-A8EF-C94F-B536-5BB0525A0982}"/>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6" name="TextBox 5">
            <a:extLst>
              <a:ext uri="{FF2B5EF4-FFF2-40B4-BE49-F238E27FC236}">
                <a16:creationId xmlns:a16="http://schemas.microsoft.com/office/drawing/2014/main" id="{DEE9B641-B4E8-EA4A-B05A-722E17BEF40D}"/>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507184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C3EC156-E8C1-2345-9DEE-7799FF05D2F3}"/>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10" name="TextBox 9">
            <a:extLst>
              <a:ext uri="{FF2B5EF4-FFF2-40B4-BE49-F238E27FC236}">
                <a16:creationId xmlns:a16="http://schemas.microsoft.com/office/drawing/2014/main" id="{5A083B54-DD3C-9B44-8F7F-DE527843D2C1}"/>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
        <p:nvSpPr>
          <p:cNvPr id="12" name="Title 1">
            <a:extLst>
              <a:ext uri="{FF2B5EF4-FFF2-40B4-BE49-F238E27FC236}">
                <a16:creationId xmlns:a16="http://schemas.microsoft.com/office/drawing/2014/main" id="{40C34F0C-3EF1-F145-A70A-95E570F10648}"/>
              </a:ext>
            </a:extLst>
          </p:cNvPr>
          <p:cNvSpPr txBox="1">
            <a:spLocks/>
          </p:cNvSpPr>
          <p:nvPr/>
        </p:nvSpPr>
        <p:spPr>
          <a:xfrm>
            <a:off x="1846118" y="2368634"/>
            <a:ext cx="8499763" cy="21207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solidFill>
                  <a:schemeClr val="bg1"/>
                </a:solidFill>
                <a:latin typeface="Times New Roman" panose="02020603050405020304" pitchFamily="18" charset="0"/>
                <a:cs typeface="Times New Roman" panose="02020603050405020304" pitchFamily="18" charset="0"/>
              </a:rPr>
              <a:t>Your score on this test will be the questions marked correctly minus a fraction of questions marked incorrectly. Therefore, it will not be to your advantage to guess unless you are able to eliminate one or more of the answer choices as wrong.</a:t>
            </a:r>
          </a:p>
        </p:txBody>
      </p:sp>
    </p:spTree>
    <p:extLst>
      <p:ext uri="{BB962C8B-B14F-4D97-AF65-F5344CB8AC3E}">
        <p14:creationId xmlns:p14="http://schemas.microsoft.com/office/powerpoint/2010/main" val="3899688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FADA72-162C-7346-814B-28E10CC7DB3E}"/>
              </a:ext>
            </a:extLst>
          </p:cNvPr>
          <p:cNvSpPr txBox="1">
            <a:spLocks/>
          </p:cNvSpPr>
          <p:nvPr/>
        </p:nvSpPr>
        <p:spPr>
          <a:xfrm>
            <a:off x="1807772" y="1720388"/>
            <a:ext cx="8576455" cy="34172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solidFill>
                  <a:schemeClr val="bg1"/>
                </a:solidFill>
                <a:latin typeface="Times New Roman" panose="02020603050405020304" pitchFamily="18" charset="0"/>
                <a:cs typeface="Times New Roman" panose="02020603050405020304" pitchFamily="18" charset="0"/>
              </a:rPr>
              <a:t>This test has 2 parts with 10 questions each. You will have 3 minutes for each of the 2 parts.</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Please note that you will </a:t>
            </a:r>
            <a:r>
              <a:rPr lang="en-US" sz="2800" u="sng" dirty="0">
                <a:solidFill>
                  <a:schemeClr val="bg1"/>
                </a:solidFill>
                <a:latin typeface="Times New Roman" panose="02020603050405020304" pitchFamily="18" charset="0"/>
                <a:cs typeface="Times New Roman" panose="02020603050405020304" pitchFamily="18" charset="0"/>
              </a:rPr>
              <a:t>not</a:t>
            </a:r>
            <a:r>
              <a:rPr lang="en-US" sz="2800" dirty="0">
                <a:solidFill>
                  <a:schemeClr val="bg1"/>
                </a:solidFill>
                <a:latin typeface="Times New Roman" panose="02020603050405020304" pitchFamily="18" charset="0"/>
                <a:cs typeface="Times New Roman" panose="02020603050405020304" pitchFamily="18" charset="0"/>
              </a:rPr>
              <a:t> be able to go back to previous questions, and you will </a:t>
            </a:r>
            <a:r>
              <a:rPr lang="en-US" sz="2800" u="sng" dirty="0">
                <a:solidFill>
                  <a:schemeClr val="bg1"/>
                </a:solidFill>
                <a:latin typeface="Times New Roman" panose="02020603050405020304" pitchFamily="18" charset="0"/>
                <a:cs typeface="Times New Roman" panose="02020603050405020304" pitchFamily="18" charset="0"/>
              </a:rPr>
              <a:t>not</a:t>
            </a:r>
            <a:r>
              <a:rPr lang="en-US" sz="2800" dirty="0">
                <a:solidFill>
                  <a:schemeClr val="bg1"/>
                </a:solidFill>
                <a:latin typeface="Times New Roman" panose="02020603050405020304" pitchFamily="18" charset="0"/>
                <a:cs typeface="Times New Roman" panose="02020603050405020304" pitchFamily="18" charset="0"/>
              </a:rPr>
              <a:t> be able to see the timer.</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When the time is up, you will be automatically advanced to the next screen.</a:t>
            </a:r>
          </a:p>
        </p:txBody>
      </p:sp>
      <p:sp>
        <p:nvSpPr>
          <p:cNvPr id="10" name="TextBox 9">
            <a:extLst>
              <a:ext uri="{FF2B5EF4-FFF2-40B4-BE49-F238E27FC236}">
                <a16:creationId xmlns:a16="http://schemas.microsoft.com/office/drawing/2014/main" id="{57DE8961-0B76-1842-B84B-502F056B5A34}"/>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11" name="TextBox 10">
            <a:extLst>
              <a:ext uri="{FF2B5EF4-FFF2-40B4-BE49-F238E27FC236}">
                <a16:creationId xmlns:a16="http://schemas.microsoft.com/office/drawing/2014/main" id="{B632936B-93E7-F847-831C-06F63146E035}"/>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1471029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877783" y="1979468"/>
            <a:ext cx="8436428" cy="2899063"/>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Part I</a:t>
            </a:r>
            <a:r>
              <a:rPr lang="en-US" sz="2800" dirty="0">
                <a:solidFill>
                  <a:schemeClr val="bg1"/>
                </a:solidFill>
                <a:latin typeface="Times New Roman" panose="02020603050405020304" pitchFamily="18" charset="0"/>
                <a:cs typeface="Times New Roman" panose="02020603050405020304" pitchFamily="18" charset="0"/>
              </a:rPr>
              <a:t> (3 minutes)</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Remember to press the number (1, 2, 3, 4, or 5) on your keyboard associated with the image to select it.</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At this time, please ask your experimenter if you have any questions.</a:t>
            </a:r>
          </a:p>
        </p:txBody>
      </p:sp>
      <p:sp>
        <p:nvSpPr>
          <p:cNvPr id="7" name="TextBox 6">
            <a:extLst>
              <a:ext uri="{FF2B5EF4-FFF2-40B4-BE49-F238E27FC236}">
                <a16:creationId xmlns:a16="http://schemas.microsoft.com/office/drawing/2014/main" id="{A1879599-7D02-5B48-B56B-B65F2AE0C17C}"/>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8" name="TextBox 7">
            <a:extLst>
              <a:ext uri="{FF2B5EF4-FFF2-40B4-BE49-F238E27FC236}">
                <a16:creationId xmlns:a16="http://schemas.microsoft.com/office/drawing/2014/main" id="{3E57BC05-9A61-0B4B-98EB-050B2DF1C028}"/>
              </a:ext>
            </a:extLst>
          </p:cNvPr>
          <p:cNvSpPr txBox="1"/>
          <p:nvPr/>
        </p:nvSpPr>
        <p:spPr>
          <a:xfrm>
            <a:off x="1787766" y="5990139"/>
            <a:ext cx="8616462" cy="400110"/>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When you’re ready to begin Part I, press the </a:t>
            </a:r>
            <a:r>
              <a:rPr lang="en-US" sz="2000" u="sng" dirty="0">
                <a:solidFill>
                  <a:schemeClr val="bg1"/>
                </a:solidFill>
                <a:latin typeface="Times New Roman" panose="02020603050405020304" pitchFamily="18" charset="0"/>
                <a:cs typeface="Times New Roman" panose="02020603050405020304" pitchFamily="18" charset="0"/>
              </a:rPr>
              <a:t>space bar</a:t>
            </a:r>
            <a:r>
              <a:rPr lang="en-US" sz="2000" dirty="0">
                <a:solidFill>
                  <a:schemeClr val="bg1"/>
                </a:solidFill>
                <a:latin typeface="Times New Roman" panose="02020603050405020304" pitchFamily="18" charset="0"/>
                <a:cs typeface="Times New Roman" panose="02020603050405020304" pitchFamily="18" charset="0"/>
              </a:rPr>
              <a:t> to continue.</a:t>
            </a:r>
          </a:p>
        </p:txBody>
      </p:sp>
    </p:spTree>
    <p:extLst>
      <p:ext uri="{BB962C8B-B14F-4D97-AF65-F5344CB8AC3E}">
        <p14:creationId xmlns:p14="http://schemas.microsoft.com/office/powerpoint/2010/main" val="2050346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TotalTime>
  <Words>387</Words>
  <Application>Microsoft Macintosh PowerPoint</Application>
  <PresentationFormat>Widescreen</PresentationFormat>
  <Paragraphs>28</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The correct answer is 3! The figures on the next slide will show how the paper was folded and why 3 is the correct answer.</vt:lpstr>
      <vt:lpstr>PowerPoint Presentation</vt:lpstr>
      <vt:lpstr>As in the sample problem, in the following problems, all folds are shown in the figures to the left of the vertical line. You’ll be using the same paper folding method for the following problems.   Remember the paper is not turned or moved in any way except the make and unravel the folds in the figures.  The correct answer is the figure that shows the proper positions of the holes when the paper is completely unfolded.</vt:lpstr>
      <vt:lpstr>PowerPoint Presentation</vt:lpstr>
      <vt:lpstr>PowerPoint Presentation</vt:lpstr>
      <vt:lpstr>Part I (3 minutes)  Remember to press the number (1, 2, 3, 4, or 5) on your keyboard associated with the image to select it.  At this time, please ask your experimenter if you have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Buonauro</dc:creator>
  <cp:lastModifiedBy>Alina Tu</cp:lastModifiedBy>
  <cp:revision>43</cp:revision>
  <dcterms:created xsi:type="dcterms:W3CDTF">2020-10-05T18:29:27Z</dcterms:created>
  <dcterms:modified xsi:type="dcterms:W3CDTF">2022-05-12T16:41:39Z</dcterms:modified>
</cp:coreProperties>
</file>